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7801ad2c24c84" /><Relationship Type="http://schemas.openxmlformats.org/officeDocument/2006/relationships/extended-properties" Target="/docProps/app.xml" Id="Rf179734f024d4893" /><Relationship Type="http://schemas.openxmlformats.org/officeDocument/2006/relationships/officeDocument" Target="/ppt/presentation.xml" Id="R985a219920fb4b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d4006006da4fa5"/>
  </p:sldMasterIdLst>
  <p:notesMasterIdLst>
    <p:notesMasterId xmlns:r="http://schemas.openxmlformats.org/officeDocument/2006/relationships" r:id="Rc4d1eed577cd4540"/>
  </p:notesMasterIdLst>
  <p:sldIdLst>
    <p:sldId xmlns:r="http://schemas.openxmlformats.org/officeDocument/2006/relationships" id="256" r:id="R63401441efaf4a7c"/>
    <p:sldId xmlns:r="http://schemas.openxmlformats.org/officeDocument/2006/relationships" id="257" r:id="Ra5938f6206684d4c"/>
    <p:sldId xmlns:r="http://schemas.openxmlformats.org/officeDocument/2006/relationships" id="258" r:id="R5815ea3b4b014db0"/>
    <p:sldId xmlns:r="http://schemas.openxmlformats.org/officeDocument/2006/relationships" id="259" r:id="R451de23a17df4893"/>
    <p:sldId xmlns:r="http://schemas.openxmlformats.org/officeDocument/2006/relationships" id="260" r:id="Ra60f084e7bce45c6"/>
    <p:sldId xmlns:r="http://schemas.openxmlformats.org/officeDocument/2006/relationships" id="261" r:id="R780f495c6a8c476a"/>
    <p:sldId xmlns:r="http://schemas.openxmlformats.org/officeDocument/2006/relationships" id="262" r:id="Re81473622340401b"/>
    <p:sldId xmlns:r="http://schemas.openxmlformats.org/officeDocument/2006/relationships" id="263" r:id="Rf71a9411539946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fe2845ac914a49" /><Relationship Type="http://schemas.openxmlformats.org/officeDocument/2006/relationships/slideMaster" Target="/ppt/slideMasters/slideMaster1.xml" Id="Rd2d4006006da4fa5" /><Relationship Type="http://schemas.openxmlformats.org/officeDocument/2006/relationships/notesMaster" Target="/ppt/notesMasters/notesMaster1.xml" Id="Rc4d1eed577cd4540" /><Relationship Type="http://schemas.openxmlformats.org/officeDocument/2006/relationships/presProps" Target="/ppt/presProps.xml" Id="Rcb432dcb76be428c" /><Relationship Type="http://schemas.openxmlformats.org/officeDocument/2006/relationships/tableStyles" Target="/ppt/tableStyles.xml" Id="R73f3b61e57884b4e" /><Relationship Type="http://schemas.openxmlformats.org/officeDocument/2006/relationships/slide" Target="/ppt/slides/slide1.xml" Id="R63401441efaf4a7c" /><Relationship Type="http://schemas.openxmlformats.org/officeDocument/2006/relationships/slide" Target="/ppt/slides/slide2.xml" Id="Ra5938f6206684d4c" /><Relationship Type="http://schemas.openxmlformats.org/officeDocument/2006/relationships/slide" Target="/ppt/slides/slide3.xml" Id="R5815ea3b4b014db0" /><Relationship Type="http://schemas.openxmlformats.org/officeDocument/2006/relationships/slide" Target="/ppt/slides/slide4.xml" Id="R451de23a17df4893" /><Relationship Type="http://schemas.openxmlformats.org/officeDocument/2006/relationships/slide" Target="/ppt/slides/slide5.xml" Id="Ra60f084e7bce45c6" /><Relationship Type="http://schemas.openxmlformats.org/officeDocument/2006/relationships/slide" Target="/ppt/slides/slide6.xml" Id="R780f495c6a8c476a" /><Relationship Type="http://schemas.openxmlformats.org/officeDocument/2006/relationships/slide" Target="/ppt/slides/slide7.xml" Id="Re81473622340401b" /><Relationship Type="http://schemas.openxmlformats.org/officeDocument/2006/relationships/slide" Target="/ppt/slides/slide8.xml" Id="Rf71a9411539946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0ed120fc8540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fd70d82cf405a" /><Relationship Type="http://schemas.openxmlformats.org/officeDocument/2006/relationships/notesMaster" Target="/ppt/notesMasters/notesMaster1.xml" Id="R9e18eb0fe41045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acceab1ba449f1" /><Relationship Type="http://schemas.openxmlformats.org/officeDocument/2006/relationships/notesMaster" Target="/ppt/notesMasters/notesMaster1.xml" Id="R6b85b3f122e4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d652d448d44e1f" /><Relationship Type="http://schemas.openxmlformats.org/officeDocument/2006/relationships/notesMaster" Target="/ppt/notesMasters/notesMaster1.xml" Id="R59e272e540514f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448cf169094140" /><Relationship Type="http://schemas.openxmlformats.org/officeDocument/2006/relationships/notesMaster" Target="/ppt/notesMasters/notesMaster1.xml" Id="R6367e5ae1b07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c6dcfb5ab046ec" /><Relationship Type="http://schemas.openxmlformats.org/officeDocument/2006/relationships/notesMaster" Target="/ppt/notesMasters/notesMaster1.xml" Id="R863a0222c3d34b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b90525834e4a17" /><Relationship Type="http://schemas.openxmlformats.org/officeDocument/2006/relationships/notesMaster" Target="/ppt/notesMasters/notesMaster1.xml" Id="R495ff0c3bac14b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491d8cb4994078" /><Relationship Type="http://schemas.openxmlformats.org/officeDocument/2006/relationships/notesMaster" Target="/ppt/notesMasters/notesMaster1.xml" Id="R8aa504762e9d46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820aa626504a2d" /><Relationship Type="http://schemas.openxmlformats.org/officeDocument/2006/relationships/notesMaster" Target="/ppt/notesMasters/notesMaster1.xml" Id="Rb259045cb27244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with the everyday problem: plants can be hard to identify when the view, light, or background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three examples to make domain shift concrete before introducing the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self-supervised learning with the picture-book analogy. Keep the focus on learning first, testing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technical names are not needed here: student and teacher are simply two views that help the model check its own learning.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explains LP-FT and LLRD without relying on acronyms. The key idea is to protect useful old knowledge while learning the new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that Agri-DINO is 0.32 points below the supervised ImageNet baseline, so the claim is competitive transfer, not a victory over every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Stress that this is a cumulative experiment: each bar adds one ingredient to the previous setting.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Agri_DINO_CVPR_Paper.tex and Agri_DINO_CVPR_Paper.pdf (project method, results, and figures).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returning to the opening idea: the model should recognize the same plant even when the picture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362429e7d49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4a5fe03c604483" /><Relationship Type="http://schemas.openxmlformats.org/officeDocument/2006/relationships/slideLayout" Target="/ppt/slideLayouts/slideLayout1.xml" Id="R661c18f1298142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1c18f1298142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168d99dd9411b" /><Relationship Type="http://schemas.openxmlformats.org/officeDocument/2006/relationships/notesSlide" Target="/ppt/notesSlides/notesSlide1.xml" Id="Rd77f3b48c9ca4d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0f995a5ae41df" /><Relationship Type="http://schemas.openxmlformats.org/officeDocument/2006/relationships/notesSlide" Target="/ppt/notesSlides/notesSlide2.xml" Id="R74a7229b1d864f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141ebdcf64e33" /><Relationship Type="http://schemas.openxmlformats.org/officeDocument/2006/relationships/notesSlide" Target="/ppt/notesSlides/notesSlide3.xml" Id="Ra0c1bee04ad345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f240cd6594442" /><Relationship Type="http://schemas.openxmlformats.org/officeDocument/2006/relationships/notesSlide" Target="/ppt/notesSlides/notesSlide4.xml" Id="R4ceefa25275b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feda11391492d" /><Relationship Type="http://schemas.openxmlformats.org/officeDocument/2006/relationships/notesSlide" Target="/ppt/notesSlides/notesSlide5.xml" Id="R2abd8d8ba22e4a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01d2b6a9a4b07" /><Relationship Type="http://schemas.openxmlformats.org/officeDocument/2006/relationships/notesSlide" Target="/ppt/notesSlides/notesSlide6.xml" Id="R4055c4f6c40543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c39a709ab4749" /><Relationship Type="http://schemas.openxmlformats.org/officeDocument/2006/relationships/notesSlide" Target="/ppt/notesSlides/notesSlide7.xml" Id="Rf8748ea134cd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8199907b44022" /><Relationship Type="http://schemas.openxmlformats.org/officeDocument/2006/relationships/notesSlide" Target="/ppt/notesSlides/notesSlide8.xml" Id="Rb093b9c6ced14e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3FA04-7A81-41E5-9C76-4A4D3AF7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D2B632-414E-483C-AC77-FA205FB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SIMPLE IDEA FOR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BETTER PLANT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91B9E-F230-4B82-8633-DC38F220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Agri-DINO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A0FFB-49B5-46BD-831C-CCE28E16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06D"/>
                </a:solidFill>
                <a:latin typeface="Arial"/>
                <a:ea typeface="Arial"/>
                <a:cs typeface="Arial"/>
              </a:rPr>
              <a:t>Teaching a computer to notice the small details in plant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9BB57-F87D-459A-9EEA-60DC822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Md Min-Ha-Zul Abedin  ·  Md Mehedi Hasan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Auburn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4DDCE-B521-49D5-8E48-D85AABBB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2857500" cy="4095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8F61D-CAEB-4EF8-AF33-1B3EF2BA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1288732" cy="6915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41651-46B4-42B6-81F5-5B79D8C9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266" y="2248376"/>
            <a:ext cx="974408" cy="5343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14782-7AE6-40F1-9E2B-831CE224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658" y="2562701"/>
            <a:ext cx="11001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F89D-75C3-44A5-AED4-855DA66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1.52M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26856-C8E1-4E0B-976F-B3D1D88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unlabeled plant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photos used to learn</a:t>
            </a:r>
          </a:p>
        </p:txBody>
      </p:sp>
    </p:spTree>
    <p:extLst>
      <p:ext uri="{BB962C8B-B14F-4D97-AF65-F5344CB8AC3E}">
        <p14:creationId xmlns:p14="http://schemas.microsoft.com/office/powerpoint/2010/main" val="179949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B72B79-6B2C-4A8B-8175-ABAC14F2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01  / 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0D25A-1D10-4EEA-803C-5835B81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plant can look different without changing its name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DF97F-3C0E-4113-94C8-454BF45A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A computer must learn the important clues, not the background noise.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B4227-A3A4-475B-827A-7B4607C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4736-1294-4E51-8772-637AC455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EE8F0-72AE-4F3E-B5F1-A8B87A0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D02D-A477-4FD1-A6BC-33659A4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CF59C-C48A-48AB-9079-9633A19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Different 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C7495-1D6F-4C5D-8567-95C5423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Shadows can hide spots.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95D87-667A-4F80-A517-9E4BC8F2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89AD6-1CC4-4F96-864E-38ADC68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7EB5D-9D82-4311-9A65-430EBC0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70661-3CCD-4428-A4D2-789ECBF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A44E4-D0D4-47A0-897E-FC6AAF1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Different angle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B18B5-315D-4B25-AEA2-6110EC4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Leaves can look smaller.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66214-1648-46D6-BED8-52054A4B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7813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D700C-8B26-4607-8AA2-0FE0DE5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73D0A-0991-44B4-B66E-BBF45B6A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05125"/>
            <a:ext cx="5524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476EA-44AE-4038-BC4F-745A16EB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51901-BD32-46C8-B015-258429AF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71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Busy 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597BD-EA64-417B-82E2-7DFA4861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Soil and tools can distract.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2E912-FCC6-4C96-98CC-2883636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3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hard part is not only naming a plant. It is recognizing the same plant in many real-world situations.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5DEA6-EE11-4594-89CB-BE39F2C8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8DB72-839C-4F39-9A2E-83C55B98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DF7DA-812C-44C5-9612-A0D0E1C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6420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14F84-B75C-488D-8C52-CD82C415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02  /  THE BIG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FA714-BC4E-4B4B-9CA2-CD4235E7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Let the model learn from many plant photos before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E8488-40BE-4CF5-A4CB-1A2F9D0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It first learns what plant images usually look like, then learns a smaller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F2B65-4E82-40E6-937F-1410273B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29AF7-28AD-4DC3-AF15-B25EF4AF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4A9B7-69BE-443F-87F9-293C4E1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 from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unlabeled photos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79A88-D309-4DF1-BC77-1F65333F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answer key is needed.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model compares views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of the same picture.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C49A-BA8D-44C0-9D40-E81A542F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14097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09ED6-6E70-4D84-9D1F-5091B3D0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06D1C-C31A-4609-A9A6-61953F5B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2198F-5AC6-4251-B604-D68E0BD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 a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small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5C1B1-EBA8-47E9-9613-7980C48F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Now use a small labeled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dataset to answer a question,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such as: “Which plant is this?”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47E02-7DAB-4790-9E37-66A5B839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This is like studying a big picture book before taking a short quiz.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5D63-D3BE-4328-9C0E-1278106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EB882-7B11-4984-8511-5B269F8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192A5-E75C-4893-96D7-17929CC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3451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690E8-673E-4699-8B2A-74BDB26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03  /  HOW AGRI-DINO LEARNS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A137F-2229-4FA8-A9C0-0B90249E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model looks at the same image in different 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1F858-4F51-4F40-A300-1C64E66F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Different crops and views help it focus on the plant, not one exact picture.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52EED-9AB4-4920-A7A6-03A1F011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plant photo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EB05E-1C76-41D8-B29A-3C6BAD35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19050">
            <a:solidFill>
              <a:srgbClr val="72B7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D189-7987-4860-9CEB-03FEDF8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9525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65BFC-74A8-4200-9AED-136DFF41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781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EF247-E011-4BC8-8606-06CD7915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ABA52-C8E1-40F2-BCB9-4F5570E6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crop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4C09E-AD6A-41C4-A7AF-B6987EA8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95850"/>
            <a:ext cx="666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zoom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12921-D170-4537-9FAD-B4084FD4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952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8F121-93A5-4A14-B535-D597223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2533650" cy="26670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AD96E-69BB-4515-96ED-60857721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Two learners compare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F0CC2-B817-4F7D-BFCE-28A4815F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1E3F2-31A7-4EFF-BC24-18F87D92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195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9FF5A-7D0B-48EB-BA1A-BD41A6D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29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B71FC-4439-4846-A600-0EC1327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1957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0A6D6-5F79-4A80-AB18-10820E23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1A9EE-BD1D-405D-82E7-5D8F3C5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4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Are the important clues</a:t>
            </a:r>
          </a:p>
          <a:p xmlns:a="http://schemas.openxmlformats.org/drawingml/2006/main">
            <a:pPr algn="ctr">
              <a:buNone/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still the same?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6A040-92CF-41CD-9A94-9953A622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952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6F7F7-0C66-4C11-9466-6BEE0D2B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2381250" cy="266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3BDC3-1032-46B6-87CA-F35AFD66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771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Better plant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0FD32-87B3-45EB-BE9A-9BB7955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model keeps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useful patterns and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06D"/>
                </a:solidFill>
                <a:latin typeface="Arial"/>
                <a:ea typeface="Arial"/>
                <a:cs typeface="Arial"/>
              </a:rPr>
              <a:t>ignores distractions.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3D2E0-9DAA-40F1-B5E4-B7AB374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5BBD1-8BF2-480C-94BA-86BCE13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84C34-DAB8-4990-807A-CC859036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6625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51F35-E2D4-4395-BB3C-4AB75A7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04  /  ADAPTING TO A NEW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5444C-D784-44E3-9AB9-486D011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Warm up first, then fine-tune carefully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18D48-7BD5-497F-AC69-C238BBE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two-step training recipe helps a small plant dataset work with a large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FBBEE-56F1-4608-8ECB-8076B88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 large model already knows useful visual patterns.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41257-581C-4E89-AAD3-1FB5320E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A5A42-B924-4397-ADE8-5888A3EC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2AC26-63E4-4028-9F5C-89FE7A41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8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Warm up the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new answer 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709FD-6B6B-4FE1-9548-E933802C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Keep the main model still</a:t>
            </a:r>
          </a:p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 a few epochs.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D6FE5-06CB-4BC0-A48E-504A5FD3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BB70D-B525-4149-A49D-2EE768F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19422-6A8F-4618-8DD6-E2A61E27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54195-636A-4344-B36B-89A65C7A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Fine-tune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all layers gently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4AE74-8EF6-4FE5-B0EA-D20543CC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Later layers change more;</a:t>
            </a:r>
          </a:p>
          <a:p xmlns:a="http://schemas.openxmlformats.org/drawingml/2006/main">
            <a:pPr algn="ctr">
              <a:buNone/>
              <a:defRPr sz="13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06D"/>
                </a:solidFill>
                <a:latin typeface="Arial"/>
                <a:ea typeface="Arial"/>
                <a:cs typeface="Arial"/>
              </a:rPr>
              <a:t>early layers change less.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4980E-95ED-4AC6-A0B7-6A3A8FBC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143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F2E64-0090-4C35-A3F0-5005D414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52750"/>
            <a:ext cx="781050" cy="1619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EE2D5-1570-4259-9F83-6FFF9E55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FE952-FB7D-483C-811C-D64A8ADC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000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F0F36-3211-42C5-B67F-F7F76232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We also test a flipped version of the image and average the answers.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1D62C-A183-4E0D-BBEC-80EAFA6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A0B8B-80C8-4585-82FA-CF6640D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E3BB2-519E-415A-88C5-D4161606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9714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501A8-C84F-4CC3-AB66-37671BC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05  /  MAIN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5B354-EA80-4B87-BC36-4D46D1D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Pretraining gave the model a 10-point jump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5DD79-0BB4-416C-A2A7-BEB497F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On the MedicinalPlant test, Agri-DINO was almost as accurate as supervised ImageNet pretraining.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7732F-8554-440E-BF4B-49E68102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288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Random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7C3F2-B0CE-4F0C-B4A6-75232FB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591A8-A5D6-4FFB-B5AA-6300B5B4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339888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3C2EA-724E-49EA-9004-DD5F64A8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49.35%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2AA6E-15A5-4877-AFA1-8F55B87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956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Agri-DINO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A6C6-AEF3-4A8C-9AC1-6BEA8EA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2D65F-732F-4E6F-889A-8D79FE34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4109657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9FC4E-BB29-4A35-9053-DA2E1DBA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59.67%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75C2F-8210-47AC-A68A-BBAE881C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B4D"/>
                </a:solidFill>
                <a:latin typeface="Arial"/>
                <a:ea typeface="Arial"/>
                <a:cs typeface="Arial"/>
              </a:rPr>
              <a:t>ImageNet (supervised)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19D83-CD8A-4DE2-A53B-33C5E0AB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447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18B9A-F6BC-4869-B1DA-119538E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413169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112F3-6258-4382-89DA-868A05F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59.99%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C0167-15F5-45CB-B3E0-71300B6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3812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2B1B8-CE63-4216-B92C-56426331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+10.32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13CB-0570-41C4-8CE8-CB4B808E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percentage points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above a random 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6A3C5-3C09-48AF-9277-243E00D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7B887-12BE-4486-82FB-2C8E8DF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model learned useful plant patterns before it ever saw the small test set's labels.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419FA-D7F8-4E36-A058-D7403A41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3314B-1AB4-4112-9448-56A009B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BDC82-F3D9-4F5E-8AC0-78E4616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3160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DBF5F-404B-4300-A628-D8ADE8C5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06  /  WHAT HELPED MOST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544B6-BE8E-49C2-86FE-41ECAB5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Small training choices made a big 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EF74B-E794-4B69-A735-66200981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biggest jump came from the warm-up step before full fine-tuning.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BC42A-0885-47FD-83D6-A3CFA9F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A8E2F-3BDB-42EF-8EDE-1CB912C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F3972-E1A0-40C9-B3E7-C74027D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286DF-1EDF-44EB-8CA2-2CC73B4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A5EA-C085-41DF-BD1C-FFBBAE8F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D2F1E-A608-41A6-9CEF-A9CB3A1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D5300-4E1B-49C2-9800-C6424DD0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EEE9F-4176-4020-ABE0-2BA416A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DA3A1-A762-4514-8995-D2ED514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06D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0C4F0-FD8B-4CD5-82E1-A9FC97E8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93211"/>
            <a:ext cx="1428750" cy="1340739"/>
          </a:xfrm>
          <a:prstGeom xmlns:a="http://schemas.openxmlformats.org/drawingml/2006/main" prst="roundRect">
            <a:avLst>
              <a:gd name="adj" fmla="val 5683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64512-3539-40EF-9B69-47633C4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9361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35.19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70597-C658-4BF9-B321-8D33B2A6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No warm-up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21A20-767A-469A-9A17-01633047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16808"/>
            <a:ext cx="1428750" cy="1517142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80A35-F5BA-406F-B57B-EE7A7D4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92958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39.82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60B28-623C-4633-82F5-D72BC41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Higher resolution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A381B-A92E-4397-BF01-36366E8A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7129"/>
            <a:ext cx="1428750" cy="1996821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BB5D4-B0F9-40FC-AD1A-29B7EAC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3279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52.41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05BE6-B75B-4A35-9D03-07B5925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warm-up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053A4-1548-42C3-9B8E-9E37598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28722"/>
            <a:ext cx="1428750" cy="2205228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72B7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8D37B-910E-4320-958F-6B7BCA1A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4872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2B79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2B79A"/>
                </a:solidFill>
                <a:latin typeface="Arial"/>
                <a:ea typeface="Arial"/>
                <a:cs typeface="Arial"/>
              </a:rPr>
              <a:t>57.88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DC49C-D7F4-44B2-91D7-B4BE35D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gentle updates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2073F-C00F-4F5D-8CB6-C8C44AD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0523"/>
            <a:ext cx="1428750" cy="2273427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07748-8E50-4737-BB1A-6BDC71E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6673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59.67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4E88E-540F-4ACC-B7F7-B6437AC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B4D"/>
                </a:solidFill>
                <a:latin typeface="Arial"/>
                <a:ea typeface="Arial"/>
                <a:cs typeface="Arial"/>
              </a:rPr>
              <a:t>+ flip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44EA6-4EC4-41F9-A5AF-841A956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2000250" cy="2095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E8776-6A6C-4913-9AC7-5FF5FDB7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56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9773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7732"/>
                </a:solidFill>
                <a:latin typeface="Arial"/>
                <a:ea typeface="Arial"/>
                <a:cs typeface="Arial"/>
              </a:rPr>
              <a:t>+12.59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71C3B-599B-4AAE-A32B-CEA77464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points from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warm-up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BB318-0D6E-4B85-A4BE-0E8A8D1B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The recipe is not magic. The order of the steps matters.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383F1-D90E-4C0A-A11F-8FDFEA3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FF15E-D2BD-437B-8662-2D058181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5D744D-47E3-44CC-A906-4AA65A4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0986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ABB39-21CE-41E0-A6E6-64D24D6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07  / 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FC0DC-A9F6-4C72-B03B-535B4B0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simple recipe can help computers read plant images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1DE1-0D7D-4A9C-B23C-5C1F836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project gives us a useful starting point—and a reminder to check the data carefully.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6ECC8-2C4E-4905-9B37-BBC222E3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16D08-06C5-4F89-83EF-B0A649D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5317-A280-4BC8-BC70-0957D9D9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E0097-709F-4E6A-8AE6-C57456A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many unlabeled plant photos to learn visual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99979-64EA-467A-AF88-5127264C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4D071-7636-42CD-A33C-4E12E484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60913-96EB-4ED3-B573-8CB79D96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Adapt gently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D6915-30AB-471F-9FBA-E4C3C479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Warm up the new task, then update the model carefully.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37168-901A-4115-A472-135DCA4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571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7A0C7-0526-4554-8360-4FF9BD34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4A7C2-31D3-41C6-94C5-4088876D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 labels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296FD-5C82-43CA-A95A-9E0976D3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A confusing label system can make a good model look bad.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79799-9086-458B-BABD-8F8EFFA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0836D-346B-44D3-B8CC-4B442AC1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Big idea: better examples + careful training = better plant recognition.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474A6-8EFA-4F53-ACF6-6C8E356A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27F50-9BAC-44B4-956B-6AF9DF6D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65E8E-EB49-4176-90BE-4B942A0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1775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AGRI-DINO  /  PROJECT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20FDC-FC61-4DFF-B8EE-CFAFF17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7581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2026-07-27T01:34:27.2150000Z</dcterms:created>
  <dcterms:modified xsi:type="dcterms:W3CDTF">2026-07-27T01:34:27.2150000Z</dcterms:modified>
</coreProperties>
</file>