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d2dc735574a46f0" /><Relationship Type="http://schemas.openxmlformats.org/officeDocument/2006/relationships/extended-properties" Target="/docProps/app.xml" Id="Rb05843c9db344a6f" /><Relationship Type="http://schemas.openxmlformats.org/officeDocument/2006/relationships/officeDocument" Target="/ppt/presentation.xml" Id="R75b6581dc8b4493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d41cd29ca414ab6"/>
  </p:sldMasterIdLst>
  <p:notesMasterIdLst>
    <p:notesMasterId xmlns:r="http://schemas.openxmlformats.org/officeDocument/2006/relationships" r:id="R20008bcde5e04f17"/>
  </p:notesMasterIdLst>
  <p:sldIdLst>
    <p:sldId xmlns:r="http://schemas.openxmlformats.org/officeDocument/2006/relationships" id="256" r:id="Rbb94d999b4294c93"/>
    <p:sldId xmlns:r="http://schemas.openxmlformats.org/officeDocument/2006/relationships" id="257" r:id="Ra42df6dd819d417b"/>
    <p:sldId xmlns:r="http://schemas.openxmlformats.org/officeDocument/2006/relationships" id="258" r:id="R672ac8a0fd5346d5"/>
    <p:sldId xmlns:r="http://schemas.openxmlformats.org/officeDocument/2006/relationships" id="259" r:id="R649e065bc27c4791"/>
    <p:sldId xmlns:r="http://schemas.openxmlformats.org/officeDocument/2006/relationships" id="260" r:id="Ree964d39363a4dd4"/>
    <p:sldId xmlns:r="http://schemas.openxmlformats.org/officeDocument/2006/relationships" id="261" r:id="R7da68e57d0984529"/>
    <p:sldId xmlns:r="http://schemas.openxmlformats.org/officeDocument/2006/relationships" id="262" r:id="Rec9e29c9555549b1"/>
    <p:sldId xmlns:r="http://schemas.openxmlformats.org/officeDocument/2006/relationships" id="263" r:id="R7ca882e57a9b48f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4ba8cc1367f4ea4" /><Relationship Type="http://schemas.openxmlformats.org/officeDocument/2006/relationships/slideMaster" Target="/ppt/slideMasters/slideMaster1.xml" Id="R5d41cd29ca414ab6" /><Relationship Type="http://schemas.openxmlformats.org/officeDocument/2006/relationships/notesMaster" Target="/ppt/notesMasters/notesMaster1.xml" Id="R20008bcde5e04f17" /><Relationship Type="http://schemas.openxmlformats.org/officeDocument/2006/relationships/presProps" Target="/ppt/presProps.xml" Id="R72f610c99c9048dd" /><Relationship Type="http://schemas.openxmlformats.org/officeDocument/2006/relationships/tableStyles" Target="/ppt/tableStyles.xml" Id="R8144b32e047b4845" /><Relationship Type="http://schemas.openxmlformats.org/officeDocument/2006/relationships/slide" Target="/ppt/slides/slide1.xml" Id="Rbb94d999b4294c93" /><Relationship Type="http://schemas.openxmlformats.org/officeDocument/2006/relationships/slide" Target="/ppt/slides/slide2.xml" Id="Ra42df6dd819d417b" /><Relationship Type="http://schemas.openxmlformats.org/officeDocument/2006/relationships/slide" Target="/ppt/slides/slide3.xml" Id="R672ac8a0fd5346d5" /><Relationship Type="http://schemas.openxmlformats.org/officeDocument/2006/relationships/slide" Target="/ppt/slides/slide4.xml" Id="R649e065bc27c4791" /><Relationship Type="http://schemas.openxmlformats.org/officeDocument/2006/relationships/slide" Target="/ppt/slides/slide5.xml" Id="Ree964d39363a4dd4" /><Relationship Type="http://schemas.openxmlformats.org/officeDocument/2006/relationships/slide" Target="/ppt/slides/slide6.xml" Id="R7da68e57d0984529" /><Relationship Type="http://schemas.openxmlformats.org/officeDocument/2006/relationships/slide" Target="/ppt/slides/slide7.xml" Id="Rec9e29c9555549b1" /><Relationship Type="http://schemas.openxmlformats.org/officeDocument/2006/relationships/slide" Target="/ppt/slides/slide8.xml" Id="R7ca882e57a9b48f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13390d041b04ee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c5c5c680e634621" /><Relationship Type="http://schemas.openxmlformats.org/officeDocument/2006/relationships/notesMaster" Target="/ppt/notesMasters/notesMaster1.xml" Id="R6974c7c67dba4d7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a956794c23143ef" /><Relationship Type="http://schemas.openxmlformats.org/officeDocument/2006/relationships/notesMaster" Target="/ppt/notesMasters/notesMaster1.xml" Id="R1dc0217b74b54bb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c36b5c1e8334d4c" /><Relationship Type="http://schemas.openxmlformats.org/officeDocument/2006/relationships/notesMaster" Target="/ppt/notesMasters/notesMaster1.xml" Id="Re947f69f207a4dc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a08bef9f1094419" /><Relationship Type="http://schemas.openxmlformats.org/officeDocument/2006/relationships/notesMaster" Target="/ppt/notesMasters/notesMaster1.xml" Id="R4c17a52dca2846a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2e8db14439742b1" /><Relationship Type="http://schemas.openxmlformats.org/officeDocument/2006/relationships/notesMaster" Target="/ppt/notesMasters/notesMaster1.xml" Id="Rb4715e058616485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77f89460a774ad6" /><Relationship Type="http://schemas.openxmlformats.org/officeDocument/2006/relationships/notesMaster" Target="/ppt/notesMasters/notesMaster1.xml" Id="Reb417ec7ac1b4be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04e9396a38743f2" /><Relationship Type="http://schemas.openxmlformats.org/officeDocument/2006/relationships/notesMaster" Target="/ppt/notesMasters/notesMaster1.xml" Id="R9483a76270da415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43b79d6dc0449c8" /><Relationship Type="http://schemas.openxmlformats.org/officeDocument/2006/relationships/notesMaster" Target="/ppt/notesMasters/notesMaster1.xml" Id="Raebf468cf547476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Agri_DINO_CVPR_Paper.tex and Agri_DINO_CVPR_Paper.pdf (project method, results, and figures).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Formal opening: introduce Agri-DINO as a DINO-style self-supervised project. The cover now previews the backbone adaptation recipe and headline result; the following slides explain the details.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Agri_DINO_CVPR_Paper.tex and Agri_DINO_CVPR_Paper.pdf (project method, results, and figures).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three examples to make domain shift concrete before introducing the model.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Agri_DINO_CVPR_Paper.tex and Agri_DINO_CVPR_Paper.pdf (project method, results, and figures).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Explain self-supervised learning with the picture-book analogy. Keep the focus on learning first, testing later.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Agri_DINO_CVPR_Paper.tex and Agri_DINO_CVPR_Paper.pdf (project method, results, and figures).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technical names are not needed here: student and teacher are simply two views that help the model check its own learning.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Agri_DINO_CVPR_Paper.tex and Agri_DINO_CVPR_Paper.pdf (project method, results, and figures).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This slide explains LP-FT and LLRD without relying on acronyms. The key idea is to protect useful old knowledge while learning the new task.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Agri_DINO_CVPR_Paper.tex and Agri_DINO_CVPR_Paper.pdf (project method, results, and figures).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Point out that Agri-DINO is 0.32 points below the supervised ImageNet baseline, so the claim is competitive transfer, not a victory over every baseline.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Agri_DINO_CVPR_Paper.tex and Agri_DINO_CVPR_Paper.pdf (project method, results, and figures).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Stress that this is a cumulative experiment: each bar adds one ingredient to the previous setting.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Agri_DINO_CVPR_Paper.tex and Agri_DINO_CVPR_Paper.pdf (project method, results, and figures).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Close by returning to the opening idea: the model should recognize the same plant even when the picture changes.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c2878ce6b34f8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8f3177e8b26424b" /><Relationship Type="http://schemas.openxmlformats.org/officeDocument/2006/relationships/slideLayout" Target="/ppt/slideLayouts/slideLayout1.xml" Id="Rad8d3b8c600c44a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d8d3b8c600c44a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b3aafcf9264350" /><Relationship Type="http://schemas.openxmlformats.org/officeDocument/2006/relationships/notesSlide" Target="/ppt/notesSlides/notesSlide1.xml" Id="R461d6ff4115740d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dde65a594e4037" /><Relationship Type="http://schemas.openxmlformats.org/officeDocument/2006/relationships/notesSlide" Target="/ppt/notesSlides/notesSlide2.xml" Id="R7cfdaf6bd6af42d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f2d43760e34775" /><Relationship Type="http://schemas.openxmlformats.org/officeDocument/2006/relationships/notesSlide" Target="/ppt/notesSlides/notesSlide3.xml" Id="R4dc0e294044b40d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f6739303404093" /><Relationship Type="http://schemas.openxmlformats.org/officeDocument/2006/relationships/notesSlide" Target="/ppt/notesSlides/notesSlide4.xml" Id="R49ceeec000a94d4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c5e34a736f4ff4" /><Relationship Type="http://schemas.openxmlformats.org/officeDocument/2006/relationships/notesSlide" Target="/ppt/notesSlides/notesSlide5.xml" Id="R862b7def182a4d3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ec77a47ec14839" /><Relationship Type="http://schemas.openxmlformats.org/officeDocument/2006/relationships/notesSlide" Target="/ppt/notesSlides/notesSlide6.xml" Id="Rd3eb532d22d94b8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3a5a4c72154aa8" /><Relationship Type="http://schemas.openxmlformats.org/officeDocument/2006/relationships/notesSlide" Target="/ppt/notesSlides/notesSlide7.xml" Id="Rb9ff4fc1eede404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bacca6172a4e0e" /><Relationship Type="http://schemas.openxmlformats.org/officeDocument/2006/relationships/notesSlide" Target="/ppt/notesSlides/notesSlide8.xml" Id="Re822159acd49456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C3FA04-7A81-41E5-9C76-4A4D3AF76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9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FD2B632-414E-483C-AC77-FA205FB9E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685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354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6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Agri-DINO: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36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Domain-adaptive self-supervision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291B9E-F230-4B82-8633-DC38F220F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90800"/>
            <a:ext cx="685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2E7D5B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E7D5B"/>
                </a:solidFill>
                <a:latin typeface="Arial"/>
                <a:ea typeface="Arial"/>
                <a:cs typeface="Arial"/>
              </a:rPr>
              <a:t>Fine-grained plant recognition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9A0FFB-49B5-46BD-831C-CCE28E164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5905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52606D"/>
                </a:solidFill>
                <a:latin typeface="Arial"/>
                <a:ea typeface="Arial"/>
                <a:cs typeface="Arial"/>
              </a:rPr>
              <a:t>Method: DINO-style pretraining + LP-FT/LLRD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D9BB57-F87D-459A-9EEA-60DC8225D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495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07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72B4D"/>
                </a:solidFill>
                <a:latin typeface="Arial"/>
                <a:ea typeface="Arial"/>
                <a:cs typeface="Arial"/>
              </a:rPr>
              <a:t>Md Min-Ha-Zul Abedin  ·  Md Mehedi Hasan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35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72B4D"/>
                </a:solidFill>
                <a:latin typeface="Arial"/>
                <a:ea typeface="Arial"/>
                <a:cs typeface="Arial"/>
              </a:rPr>
              <a:t>Auburn University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C4DDCE-B521-49D5-8E48-D85AABBBA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143000"/>
            <a:ext cx="2857500" cy="409575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E9F4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A8F61D-CAEB-4EF8-AF33-1B3EF2BA2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981200"/>
            <a:ext cx="1288732" cy="6915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D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841651-46B4-42B6-81F5-5B79D8C9D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9266" y="2248376"/>
            <a:ext cx="974408" cy="53435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2B7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A14782-7AE6-40F1-9E2B-831CE224D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0658" y="2562701"/>
            <a:ext cx="11001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03F89D-75C3-44A5-AED4-855DA6601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067050"/>
            <a:ext cx="2095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765"/>
          </a:bodyPr>
          <a:lstStyle xmlns:a="http://schemas.openxmlformats.org/drawingml/2006/main"/>
          <a:p xmlns:a="http://schemas.openxmlformats.org/drawingml/2006/main">
            <a:pPr algn="ctr">
              <a:buNone/>
              <a:defRPr sz="4050" b="1">
                <a:solidFill>
                  <a:srgbClr val="2E7D5B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2E7D5B"/>
                </a:solidFill>
                <a:latin typeface="Arial"/>
                <a:ea typeface="Arial"/>
                <a:cs typeface="Arial"/>
              </a:rPr>
              <a:t>1.52M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326856-C8E1-4E0B-976F-B3D1D8869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790950"/>
            <a:ext cx="2133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54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72B4D"/>
                </a:solidFill>
                <a:latin typeface="Arial"/>
                <a:ea typeface="Arial"/>
                <a:cs typeface="Arial"/>
              </a:rPr>
              <a:t>unlabeled photos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65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72B4D"/>
                </a:solidFill>
                <a:latin typeface="Arial"/>
                <a:ea typeface="Arial"/>
                <a:cs typeface="Arial"/>
              </a:rPr>
              <a:t>59.67% top-1 accuracy</a:t>
            </a:r>
          </a:p>
        </p:txBody>
      </p:sp>
    </p:spTree>
    <p:extLst>
      <p:ext uri="{BB962C8B-B14F-4D97-AF65-F5344CB8AC3E}">
        <p14:creationId xmlns:p14="http://schemas.microsoft.com/office/powerpoint/2010/main" val="179949118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AB72B79-6B2C-4A8B-8175-ABAC14F2A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E7D5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E7D5B"/>
                </a:solidFill>
                <a:latin typeface="Arial"/>
                <a:ea typeface="Arial"/>
                <a:cs typeface="Arial"/>
              </a:rPr>
              <a:t>01  /  THE 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40D25A-1D10-4EEA-803C-5835B81F4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A plant can look different without changing its name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0DF97F-3C0E-4113-94C8-454BF45A4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52606D"/>
                </a:solidFill>
                <a:latin typeface="Arial"/>
                <a:ea typeface="Arial"/>
                <a:cs typeface="Arial"/>
              </a:rPr>
              <a:t>A computer must learn the important clues, not the background noise.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3B4227-A3A4-475B-827A-7B4607C9D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278130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1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C04736-1294-4E51-8772-637AC4554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724150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AEE8F0-72AE-4F3E-B5F1-A8B87A071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2905125"/>
            <a:ext cx="5524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99D02D-A477-4FD1-A6BC-33659A4CE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3124200"/>
            <a:ext cx="66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6CF59C-C48A-48AB-9079-9633A1956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71900"/>
            <a:ext cx="2324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Different light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1C7495-1D6F-4C5D-8567-95C5423FF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05275"/>
            <a:ext cx="2324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2606D"/>
                </a:solidFill>
                <a:latin typeface="Arial"/>
                <a:ea typeface="Arial"/>
                <a:cs typeface="Arial"/>
              </a:rPr>
              <a:t>Shadows can hide spots.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B95D87-667A-4F80-A517-9E4BC8F23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381250"/>
            <a:ext cx="278130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E9F4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C89AD6-1CC4-4F96-864E-38ADC6886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724150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D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C7EB5D-9D82-4311-9A65-430EBC06F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905125"/>
            <a:ext cx="5524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A70661-3CCD-4428-A4D2-789ECBFE5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124200"/>
            <a:ext cx="66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EA44E4-D0D4-47A0-897E-FC6AAF19B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771900"/>
            <a:ext cx="2324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Different angle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2B18B5-315D-4B25-AEA2-6110EC469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105275"/>
            <a:ext cx="2324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2606D"/>
                </a:solidFill>
                <a:latin typeface="Arial"/>
                <a:ea typeface="Arial"/>
                <a:cs typeface="Arial"/>
              </a:rPr>
              <a:t>Leaves can look smaller.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666214-1648-46D6-BED8-52054A4B3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381250"/>
            <a:ext cx="278130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BEA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2D700C-8B26-4607-8AA2-0FE0DE501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724150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4C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873D0A-0991-44B4-B66E-BBF45B6A9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905125"/>
            <a:ext cx="5524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6F476EA-44AE-4038-BC4F-745A16EBF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124200"/>
            <a:ext cx="66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6351901-BD32-46C8-B015-258429AFD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771900"/>
            <a:ext cx="2324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Busy background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40597BD-EA64-417B-82E2-7DFA48613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105275"/>
            <a:ext cx="2324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2606D"/>
                </a:solidFill>
                <a:latin typeface="Arial"/>
                <a:ea typeface="Arial"/>
                <a:cs typeface="Arial"/>
              </a:rPr>
              <a:t>Soil and tools can distract.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82E912-FCC6-4C96-98CC-288363628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381625"/>
            <a:ext cx="914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532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The hard part is not only naming a plant. It is recognizing the same plant in many real-world situations.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D55DEA6-EE11-4594-89CB-BE39F2C85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588DB72-839C-4F39-9A2E-83C55B98F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81775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2606D"/>
                </a:solidFill>
                <a:latin typeface="Arial"/>
                <a:ea typeface="Arial"/>
                <a:cs typeface="Arial"/>
              </a:rPr>
              <a:t>AGRI-DINO  /  PROJECT PRESENTATION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CADF7DA-812C-44C5-9612-A0D0E1C7B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2606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88642048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414F84-B75C-488D-8C52-CD82C415B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E7D5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E7D5B"/>
                </a:solidFill>
                <a:latin typeface="Arial"/>
                <a:ea typeface="Arial"/>
                <a:cs typeface="Arial"/>
              </a:rPr>
              <a:t>02  /  THE BIG IDEA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CFA714-BC4E-4B4B-9CA2-CD4235E70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Let the model learn from many plant photos before the test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7E8488-40BE-4CF5-A4CB-1A2F9D07C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52606D"/>
                </a:solidFill>
                <a:latin typeface="Arial"/>
                <a:ea typeface="Arial"/>
                <a:cs typeface="Arial"/>
              </a:rPr>
              <a:t>DINO-style self-supervision: learn features first, labels later.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3F2B65-4E82-40E6-937F-1410273BE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40957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E9F4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829AF7-28AD-4DC3-AF15-B25EF4AFD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479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E7D5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E7D5B"/>
                </a:solidFill>
                <a:latin typeface="Arial"/>
                <a:ea typeface="Arial"/>
                <a:cs typeface="Arial"/>
              </a:rPr>
              <a:t>STEP 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F4A9B7-69BE-443F-87F9-293C4E1CE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09900"/>
            <a:ext cx="295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909"/>
          </a:bodyPr>
          <a:lstStyle xmlns:a="http://schemas.openxmlformats.org/drawingml/2006/main"/>
          <a:p xmlns:a="http://schemas.openxmlformats.org/drawingml/2006/main">
            <a:pPr algn="l">
              <a:buNone/>
              <a:defRPr sz="24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Pretrain on</a:t>
            </a:r>
          </a:p>
          <a:p xmlns:a="http://schemas.openxmlformats.org/drawingml/2006/main">
            <a:pPr algn="l">
              <a:buNone/>
              <a:defRPr sz="24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1.52M photos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579A88-D309-4DF1-BC77-1F65333F6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05250"/>
            <a:ext cx="285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2606D"/>
                </a:solidFill>
                <a:latin typeface="Arial"/>
                <a:ea typeface="Arial"/>
                <a:cs typeface="Arial"/>
              </a:rPr>
              <a:t>No human labels. Use two global + four local crops of each image.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49C49A-BA8D-44C0-9D40-E81A542F1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238500"/>
            <a:ext cx="1409700" cy="666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E7D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C09ED6-6E70-4D84-9D1F-5091B3D09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381250"/>
            <a:ext cx="40957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1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406D1C-C31A-4609-A9A6-61953F5B3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6479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D9773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97732"/>
                </a:solidFill>
                <a:latin typeface="Arial"/>
                <a:ea typeface="Arial"/>
                <a:cs typeface="Arial"/>
              </a:rPr>
              <a:t>STEP 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12198F-5AC6-4251-B604-D68E0BDD5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009900"/>
            <a:ext cx="295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909"/>
          </a:bodyPr>
          <a:lstStyle xmlns:a="http://schemas.openxmlformats.org/drawingml/2006/main"/>
          <a:p xmlns:a="http://schemas.openxmlformats.org/drawingml/2006/main">
            <a:pPr algn="l">
              <a:buNone/>
              <a:defRPr sz="24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Fine-tune for</a:t>
            </a:r>
          </a:p>
          <a:p xmlns:a="http://schemas.openxmlformats.org/drawingml/2006/main">
            <a:pPr algn="l">
              <a:buNone/>
              <a:defRPr sz="24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a target task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15C1B1-EBA8-47E9-9613-7980C48F4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905250"/>
            <a:ext cx="3238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2606D"/>
                </a:solidFill>
                <a:latin typeface="Arial"/>
                <a:ea typeface="Arial"/>
                <a:cs typeface="Arial"/>
              </a:rPr>
              <a:t>MedicinalPlant: 1,301 images, 30 species. Labels are used here.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347E02-7DAB-4790-9E37-66A5B839E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5410200"/>
            <a:ext cx="8667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Transfer learning: general features first, task-specific features second.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6A5D63-D3BE-4328-9C0E-127810697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2EB882-7B11-4984-8511-5B269F860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81775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2606D"/>
                </a:solidFill>
                <a:latin typeface="Arial"/>
                <a:ea typeface="Arial"/>
                <a:cs typeface="Arial"/>
              </a:rPr>
              <a:t>AGRI-DINO  /  PROJECT PRESENTATION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1192A5-E75C-4893-96D7-17929CC99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2606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35345141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63690E8-673E-4699-8B2A-74BDB268C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E7D5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E7D5B"/>
                </a:solidFill>
                <a:latin typeface="Arial"/>
                <a:ea typeface="Arial"/>
                <a:cs typeface="Arial"/>
              </a:rPr>
              <a:t>03  /  HOW AGRI-DINO LEARNS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BA137F-2229-4FA8-A9C0-0B90249EF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DINO compares different views of the same image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11F858-4F51-4F40-A300-1C64E66FF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52606D"/>
                </a:solidFill>
                <a:latin typeface="Arial"/>
                <a:ea typeface="Arial"/>
                <a:cs typeface="Arial"/>
              </a:rPr>
              <a:t>Student–teacher matching with a ViT-B/16 backbone.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752EED-9AB4-4920-A7A6-03A1F011F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431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Multi-crop views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5EB05E-1C76-41D8-B29A-3C6BAD35F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81300"/>
            <a:ext cx="18097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E9F4EE"/>
          </a:solidFill>
          <a:ln xmlns:a="http://schemas.openxmlformats.org/drawingml/2006/main" w="19050">
            <a:solidFill>
              <a:srgbClr val="72B79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D8D189-7987-4860-9CEB-03FEDF8B4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333750"/>
            <a:ext cx="95250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D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E65BFC-74A8-4200-9AED-136DFF41D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543300"/>
            <a:ext cx="781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2B7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8EF247-E011-4BC8-8606-06CD79157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76650"/>
            <a:ext cx="904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1ABA52-C8E1-40F2-BCB9-4F5570E64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895850"/>
            <a:ext cx="666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9F4E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2E7D5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E7D5B"/>
                </a:solidFill>
                <a:latin typeface="Arial"/>
                <a:ea typeface="Arial"/>
                <a:cs typeface="Arial"/>
              </a:rPr>
              <a:t>crop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D4C09E-AD6A-41C4-A7AF-B6987EA8F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895850"/>
            <a:ext cx="666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9F4E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2E7D5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E7D5B"/>
                </a:solidFill>
                <a:latin typeface="Arial"/>
                <a:ea typeface="Arial"/>
                <a:cs typeface="Arial"/>
              </a:rPr>
              <a:t>zoom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E12921-D170-4537-9FAD-B4084FD43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390900"/>
            <a:ext cx="952500" cy="495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E7D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88F121-93A5-4A14-B535-D5972230B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362200"/>
            <a:ext cx="2533650" cy="2667000"/>
          </a:xfrm>
          <a:prstGeom xmlns:a="http://schemas.openxmlformats.org/drawingml/2006/main" prst="roundRect">
            <a:avLst>
              <a:gd name="adj" fmla="val 3008"/>
            </a:avLst>
          </a:prstGeom>
          <a:solidFill xmlns:a="http://schemas.openxmlformats.org/drawingml/2006/main">
            <a:srgbClr val="F4F7F5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4AD96E-69BB-4515-96ED-608577210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571750"/>
            <a:ext cx="2000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22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Student + EMA</a:t>
            </a:r>
          </a:p>
          <a:p xmlns:a="http://schemas.openxmlformats.org/drawingml/2006/main">
            <a:pPr algn="ctr">
              <a:buNone/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teacher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8F0CC2-B817-4F7D-BFCE-28A4815F7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42900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D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E1E3F2-31A7-4EFF-BC24-18F87D92F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219575"/>
            <a:ext cx="1104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E7D5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E7D5B"/>
                </a:solidFill>
                <a:latin typeface="Arial"/>
                <a:ea typeface="Arial"/>
                <a:cs typeface="Arial"/>
              </a:rPr>
              <a:t>student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09FF5A-7D0B-48EB-BA1A-BD41A6D38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42900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1B71FC-4439-4846-A600-0EC132761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219575"/>
            <a:ext cx="1104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D9773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D97732"/>
                </a:solidFill>
                <a:latin typeface="Arial"/>
                <a:ea typeface="Arial"/>
                <a:cs typeface="Arial"/>
              </a:rPr>
              <a:t>teacher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20A6D6-5F79-4A80-AB18-10820E236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781425"/>
            <a:ext cx="22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02A4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81A9EE-BD1D-405D-82E7-5D8F3C56F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524375"/>
            <a:ext cx="1847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085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2606D"/>
                </a:solidFill>
                <a:latin typeface="Arial"/>
                <a:ea typeface="Arial"/>
                <a:cs typeface="Arial"/>
              </a:rPr>
              <a:t>Cross-view loss encourages similar features.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BA6A040-92CF-41CD-9A94-9953A622F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390900"/>
            <a:ext cx="952500" cy="495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E7D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0A6F7F7-0C66-4C11-9466-6BEE0D2B3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362200"/>
            <a:ext cx="2381250" cy="266700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1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693BDC3-1032-46B6-87CA-F35AFD665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952750"/>
            <a:ext cx="17716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75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4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Agri-DINO</a:t>
            </a:r>
          </a:p>
          <a:p xmlns:a="http://schemas.openxmlformats.org/drawingml/2006/main">
            <a:pPr algn="ctr">
              <a:buNone/>
              <a:defRPr sz="24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features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970FD32-87B3-45EB-BE9A-9BB7955EA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886200"/>
            <a:ext cx="1771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730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2606D"/>
                </a:solidFill>
                <a:latin typeface="Arial"/>
                <a:ea typeface="Arial"/>
                <a:cs typeface="Arial"/>
              </a:rPr>
              <a:t>2 global (224²) + 4 local (96²) views help it focus on plant structure.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E43D2E0-9DAA-40F1-B5E4-B7AB3745B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175BBD1-8BF2-480C-94BA-86BCE134C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81775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2606D"/>
                </a:solidFill>
                <a:latin typeface="Arial"/>
                <a:ea typeface="Arial"/>
                <a:cs typeface="Arial"/>
              </a:rPr>
              <a:t>AGRI-DINO  /  PROJECT PRESENTATION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0384C34-DAB8-4990-807A-CC859036C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2606D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58662553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7151F35-E2D4-4395-BB3C-4AB75A764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E7D5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E7D5B"/>
                </a:solidFill>
                <a:latin typeface="Arial"/>
                <a:ea typeface="Arial"/>
                <a:cs typeface="Arial"/>
              </a:rPr>
              <a:t>04  /  ADAPTING TO A NEW TASK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25444C-D784-44E3-9AB9-486D01121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LP-FT + LLRD: warm up, then fine-tune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B18D48-7BD5-497F-AC69-C238BBE27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52606D"/>
                </a:solidFill>
                <a:latin typeface="Arial"/>
                <a:ea typeface="Arial"/>
                <a:cs typeface="Arial"/>
              </a:rPr>
              <a:t>A structured recipe protects pretrained features while adapting to MedicinalPlant.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FFBBEE-56F1-4608-8ECB-8076B888B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95500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Start from a DINOv3-initialized ViT-B/16.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741257-581C-4E89-AAD3-1FB5320EF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52750"/>
            <a:ext cx="2857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F4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3A5A42-B924-4397-ADE8-5888A3EC4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6230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150" b="1">
                <a:solidFill>
                  <a:srgbClr val="2E7D5B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E7D5B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72AC26-63E4-4028-9F5C-89FE7A414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162300"/>
            <a:ext cx="1600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949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Linear probe</a:t>
            </a:r>
          </a:p>
          <a:p xmlns:a="http://schemas.openxmlformats.org/drawingml/2006/main">
            <a:pPr algn="l">
              <a:buNone/>
              <a:defRPr sz="19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(LP)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8709FD-6B6B-4FE1-9548-E933802CF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6240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22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52606D"/>
                </a:solidFill>
                <a:latin typeface="Arial"/>
                <a:ea typeface="Arial"/>
                <a:cs typeface="Arial"/>
              </a:rPr>
              <a:t>5 epochs; backbone frozen; train only the classifier.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1D6FE5-06CB-4BC0-A48E-504A5FD37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429000"/>
            <a:ext cx="1143000" cy="4762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E7D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3BB70D-B525-4149-A49D-2EE768F52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952750"/>
            <a:ext cx="2857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1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719422-6A8F-4618-8DD6-E2A61E277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16230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150" b="1">
                <a:solidFill>
                  <a:srgbClr val="D97732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D97732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E54195-636A-4344-B36B-89A65C7AA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162300"/>
            <a:ext cx="1600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949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Fine-tune with</a:t>
            </a:r>
          </a:p>
          <a:p xmlns:a="http://schemas.openxmlformats.org/drawingml/2006/main">
            <a:pPr algn="l">
              <a:buNone/>
              <a:defRPr sz="19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LLRD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B4AE74-8EF6-4FE5-B0EA-D20543CC8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96240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980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52606D"/>
                </a:solidFill>
                <a:latin typeface="Arial"/>
                <a:ea typeface="Arial"/>
                <a:cs typeface="Arial"/>
              </a:rPr>
              <a:t>All layers update; γ = 0.75 gives smaller changes to early blocks.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84980E-95ED-4AC6-A0B7-6A3A8FBC5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429000"/>
            <a:ext cx="1143000" cy="4762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77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AF2E64-0090-4C35-A3F0-5005D4148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2952750"/>
            <a:ext cx="781050" cy="16192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BEA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DEE2D5-1570-4259-9F83-6FFF9E55A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323850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450" b="1">
                <a:solidFill>
                  <a:srgbClr val="C94C4C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C94C4C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1FE952-FB7D-483C-811C-D64A8ADC4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400050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C94C4C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C94C4C"/>
                </a:solidFill>
                <a:latin typeface="Arial"/>
                <a:ea typeface="Arial"/>
                <a:cs typeface="Arial"/>
              </a:rPr>
              <a:t>TTA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3F0F36-3211-42C5-B67F-F7F76232E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410200"/>
            <a:ext cx="8305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TTA averages the original and horizontally flipped views.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C1D62C-A183-4E0D-BBEC-80EAFA608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4A0B8B-80C8-4585-82FA-CF6640DE5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81775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2606D"/>
                </a:solidFill>
                <a:latin typeface="Arial"/>
                <a:ea typeface="Arial"/>
                <a:cs typeface="Arial"/>
              </a:rPr>
              <a:t>AGRI-DINO  /  PROJECT PRESENTATION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A9E3BB2-519E-415A-88C5-D41616065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2606D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09971441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90501A8-C84F-4CC3-AB66-37671BCFF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E7D5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E7D5B"/>
                </a:solidFill>
                <a:latin typeface="Arial"/>
                <a:ea typeface="Arial"/>
                <a:cs typeface="Arial"/>
              </a:rPr>
              <a:t>05  /  MAIN RESULT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C5B354-EA80-4B87-BC36-4D46D1DD8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Pretraining gave the model a 10-point jump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15DD79-0BB4-416C-A2A7-BEB497F3F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52606D"/>
                </a:solidFill>
                <a:latin typeface="Arial"/>
                <a:ea typeface="Arial"/>
                <a:cs typeface="Arial"/>
              </a:rPr>
              <a:t>MedicinalPlant: 1,301 images, 30 species, fixed stratified 80/20 split.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17732F-8554-440E-BF4B-49E681026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428875"/>
            <a:ext cx="1962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72B4D"/>
                </a:solidFill>
                <a:latin typeface="Arial"/>
                <a:ea typeface="Arial"/>
                <a:cs typeface="Arial"/>
              </a:rPr>
              <a:t>Random start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67C3F2-B0CE-4F0C-B4A6-75232FBEB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400300"/>
            <a:ext cx="44767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4F7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5591A8-A5D6-4FFB-B5AA-6300B5B4B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400300"/>
            <a:ext cx="3398886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C94C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D3C2EA-724E-49EA-9004-DD5F64A8E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4193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C94C4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C94C4C"/>
                </a:solidFill>
                <a:latin typeface="Arial"/>
                <a:ea typeface="Arial"/>
                <a:cs typeface="Arial"/>
              </a:rPr>
              <a:t>49.35%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42AA6E-15A5-4877-AFA1-8F55B87C4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095625"/>
            <a:ext cx="1962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Agri-DINO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9CA6C6-AEF3-4A8C-9AC1-6BEA8EA32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067050"/>
            <a:ext cx="44767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4F7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52D65F-732F-4E6F-889A-8D79FE34B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067050"/>
            <a:ext cx="4109657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2E7D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E9FC4E-BB29-4A35-9053-DA2E1DBA1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0861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2E7D5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E7D5B"/>
                </a:solidFill>
                <a:latin typeface="Arial"/>
                <a:ea typeface="Arial"/>
                <a:cs typeface="Arial"/>
              </a:rPr>
              <a:t>59.67%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D75C2F-8210-47AC-A68A-BBAE881C5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62375"/>
            <a:ext cx="1962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72B4D"/>
                </a:solidFill>
                <a:latin typeface="Arial"/>
                <a:ea typeface="Arial"/>
                <a:cs typeface="Arial"/>
              </a:rPr>
              <a:t>ImageNet (supervised)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919D83-CD8A-4DE2-A53B-33C5E0AB8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733800"/>
            <a:ext cx="44767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4F7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318B9A-F6BC-4869-B1DA-119538E35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733800"/>
            <a:ext cx="4131696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2112F3-6258-4382-89DA-868A05FDE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7528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59.99%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3C0167-15F5-45CB-B3E0-71300B6F7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324100"/>
            <a:ext cx="2381250" cy="2047875"/>
          </a:xfrm>
          <a:prstGeom xmlns:a="http://schemas.openxmlformats.org/drawingml/2006/main" prst="roundRect">
            <a:avLst>
              <a:gd name="adj" fmla="val 3721"/>
            </a:avLst>
          </a:prstGeom>
          <a:solidFill xmlns:a="http://schemas.openxmlformats.org/drawingml/2006/main">
            <a:srgbClr val="E9F4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C2B1B8-CE63-4216-B92C-564263319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6479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300" b="1">
                <a:solidFill>
                  <a:srgbClr val="2E7D5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E7D5B"/>
                </a:solidFill>
                <a:latin typeface="Arial"/>
                <a:ea typeface="Arial"/>
                <a:cs typeface="Arial"/>
              </a:rPr>
              <a:t>+10.32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D813CB-0570-41C4-8CE8-CB4B808E2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333750"/>
            <a:ext cx="175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72B4D"/>
                </a:solidFill>
                <a:latin typeface="Arial"/>
                <a:ea typeface="Arial"/>
                <a:cs typeface="Arial"/>
              </a:rPr>
              <a:t>percentage points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72B4D"/>
                </a:solidFill>
                <a:latin typeface="Arial"/>
                <a:ea typeface="Arial"/>
                <a:cs typeface="Arial"/>
              </a:rPr>
              <a:t>above a random start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E6A3C5-3C09-48AF-9277-243E00D73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530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Why this matters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77B887-12BE-4486-82FB-2C8E8DF4B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295900"/>
            <a:ext cx="904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2B4D"/>
                </a:solidFill>
                <a:latin typeface="Arial"/>
                <a:ea typeface="Arial"/>
                <a:cs typeface="Arial"/>
              </a:rPr>
              <a:t>No human labels were used during pretraining; labels were used only for downstream tuning.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05419FA-D7F8-4E36-A058-D7403A418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8B3314B-1AB4-4112-9448-56A009BE7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81775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2606D"/>
                </a:solidFill>
                <a:latin typeface="Arial"/>
                <a:ea typeface="Arial"/>
                <a:cs typeface="Arial"/>
              </a:rPr>
              <a:t>AGRI-DINO  /  PROJECT PRESENTATION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F7BDC82-F3D9-4F5E-8AC0-78E4616C9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2606D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21316091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31DBF5F-404B-4300-A628-D8ADE8C5B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E7D5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E7D5B"/>
                </a:solidFill>
                <a:latin typeface="Arial"/>
                <a:ea typeface="Arial"/>
                <a:cs typeface="Arial"/>
              </a:rPr>
              <a:t>06  /  WHAT HELPED MOST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8544B6-BE8E-49C2-86FE-41ECAB56B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Cumulative ablation on MedicinalPlant (256×256 input).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1EF74B-E794-4B69-A735-662009810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52606D"/>
                </a:solidFill>
                <a:latin typeface="Arial"/>
                <a:ea typeface="Arial"/>
                <a:cs typeface="Arial"/>
              </a:rPr>
              <a:t>Each bar adds one component to the previous setting.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7BC42A-0885-47FD-83D6-A3CFA9FE2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933950"/>
            <a:ext cx="885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3A8E2F-3BDB-42EF-8EDE-1CB912CC3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933950"/>
            <a:ext cx="885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4F3972-E1A0-40C9-B3E7-C74027D38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482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2606D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6286DF-1EDF-44EB-8CA2-2CC73B4CB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71950"/>
            <a:ext cx="885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13A5EA-C085-41DF-BD1C-FFBBAE8F8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862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2606D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1D2F1E-A608-41A6-9CEF-A9CB3A1EC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09950"/>
            <a:ext cx="885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7D5300-4E1B-49C2-9800-C6424DD08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242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2606D"/>
                </a:solidFill>
                <a:latin typeface="Arial"/>
                <a:ea typeface="Arial"/>
                <a:cs typeface="Arial"/>
              </a:rPr>
              <a:t>40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6EEE9F-4176-4020-ABE0-2BA416A25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47950"/>
            <a:ext cx="885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6DA3A1-A762-4514-8995-D2ED51435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622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2606D"/>
                </a:solidFill>
                <a:latin typeface="Arial"/>
                <a:ea typeface="Arial"/>
                <a:cs typeface="Arial"/>
              </a:rPr>
              <a:t>60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40C4F0-FD8B-4CD5-82E1-A9FC97E84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93211"/>
            <a:ext cx="1428750" cy="1340739"/>
          </a:xfrm>
          <a:prstGeom xmlns:a="http://schemas.openxmlformats.org/drawingml/2006/main" prst="roundRect">
            <a:avLst>
              <a:gd name="adj" fmla="val 5683"/>
            </a:avLst>
          </a:prstGeom>
          <a:solidFill xmlns:a="http://schemas.openxmlformats.org/drawingml/2006/main">
            <a:srgbClr val="C94C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164512-3539-40EF-9B69-47633C4E2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69361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C94C4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C94C4C"/>
                </a:solidFill>
                <a:latin typeface="Arial"/>
                <a:ea typeface="Arial"/>
                <a:cs typeface="Arial"/>
              </a:rPr>
              <a:t>35.19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670597-C658-4BF9-B321-8D33B2A69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105400"/>
            <a:ext cx="1581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72B4D"/>
                </a:solidFill>
                <a:latin typeface="Arial"/>
                <a:ea typeface="Arial"/>
                <a:cs typeface="Arial"/>
              </a:rPr>
              <a:t>No warm-up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221A20-767A-469A-9A17-01633047E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416808"/>
            <a:ext cx="1428750" cy="1517142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D977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380A35-F5BA-406F-B57B-EE7A7D42B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092958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D9773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D97732"/>
                </a:solidFill>
                <a:latin typeface="Arial"/>
                <a:ea typeface="Arial"/>
                <a:cs typeface="Arial"/>
              </a:rPr>
              <a:t>39.82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C60B28-623C-4633-82F5-D72BC413C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5105400"/>
            <a:ext cx="1581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72B4D"/>
                </a:solidFill>
                <a:latin typeface="Arial"/>
                <a:ea typeface="Arial"/>
                <a:cs typeface="Arial"/>
              </a:rPr>
              <a:t>Higher resolution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58A381B-A92E-4397-BF01-36366E8AB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937129"/>
            <a:ext cx="1428750" cy="1996821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2E7D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EBB5D4-B0F9-40FC-AD1A-29B7EACD4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613279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E7D5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E7D5B"/>
                </a:solidFill>
                <a:latin typeface="Arial"/>
                <a:ea typeface="Arial"/>
                <a:cs typeface="Arial"/>
              </a:rPr>
              <a:t>52.41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3405BE6-B75B-4A35-9D03-07B59250A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5105400"/>
            <a:ext cx="1581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72B4D"/>
                </a:solidFill>
                <a:latin typeface="Arial"/>
                <a:ea typeface="Arial"/>
                <a:cs typeface="Arial"/>
              </a:rPr>
              <a:t>+ warm-up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8053A4-1548-42C3-9B8E-9E37598E4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728722"/>
            <a:ext cx="1428750" cy="2205228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72B7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F78D37B-910E-4320-958F-6B7BCA1A9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404872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72B79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2B79A"/>
                </a:solidFill>
                <a:latin typeface="Arial"/>
                <a:ea typeface="Arial"/>
                <a:cs typeface="Arial"/>
              </a:rPr>
              <a:t>57.88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24DC49C-D7F4-44B2-91D7-B4BE35D0B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105400"/>
            <a:ext cx="1581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72B4D"/>
                </a:solidFill>
                <a:latin typeface="Arial"/>
                <a:ea typeface="Arial"/>
                <a:cs typeface="Arial"/>
              </a:rPr>
              <a:t>+ LLRD (γ = 0.75)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FF2073F-C00F-4F5D-8CB6-C8C44AD21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660523"/>
            <a:ext cx="1428750" cy="2273427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2507748-8E50-4737-BB1A-6BDC71E69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336673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59.67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454E88E-540F-4ACC-B7F7-B6437AC7F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105400"/>
            <a:ext cx="1581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72B4D"/>
                </a:solidFill>
                <a:latin typeface="Arial"/>
                <a:ea typeface="Arial"/>
                <a:cs typeface="Arial"/>
              </a:rPr>
              <a:t>+ flip test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FC44EA6-4EC4-41F9-A5AF-841A95623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571750"/>
            <a:ext cx="2000250" cy="209550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1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BBE8776-6A6C-4913-9AC7-5FF5FDB73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895600"/>
            <a:ext cx="1581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000" b="1">
                <a:solidFill>
                  <a:srgbClr val="D97732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D97732"/>
                </a:solidFill>
                <a:latin typeface="Arial"/>
                <a:ea typeface="Arial"/>
                <a:cs typeface="Arial"/>
              </a:rPr>
              <a:t>+12.59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E671C3B-599B-4AAE-A32B-CEA77464F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524250"/>
            <a:ext cx="1581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971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25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02A43"/>
                </a:solidFill>
                <a:latin typeface="Arial"/>
                <a:ea typeface="Arial"/>
                <a:cs typeface="Arial"/>
              </a:rPr>
              <a:t>points from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725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02A43"/>
                </a:solidFill>
                <a:latin typeface="Arial"/>
                <a:ea typeface="Arial"/>
                <a:cs typeface="Arial"/>
              </a:rPr>
              <a:t>the warm-up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9DBB318-0D6E-4B85-A4BE-0E8A8D1B8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600700"/>
            <a:ext cx="885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The recipe is not magic. The order of the steps matters.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37383F1-D90E-4C0A-A11F-8FDFEA3E4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BFFF15E-D2BD-437B-8662-2D0581814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81775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2606D"/>
                </a:solidFill>
                <a:latin typeface="Arial"/>
                <a:ea typeface="Arial"/>
                <a:cs typeface="Arial"/>
              </a:rPr>
              <a:t>AGRI-DINO  /  PROJECT PRESENTATION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15D744D-47E3-44CC-A906-4AA65A4A9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2606D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59098645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49ABB39-21CE-41E0-A6E6-64D24D630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E7D5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E7D5B"/>
                </a:solidFill>
                <a:latin typeface="Arial"/>
                <a:ea typeface="Arial"/>
                <a:cs typeface="Arial"/>
              </a:rPr>
              <a:t>07  /  TAKEAWAYS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CFC0DC-A9F6-4C72-B03B-535B4B07E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A simple recipe can help computers read plant images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FD1DE1-0D7D-4A9C-B23C-5C1F8361D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52606D"/>
                </a:solidFill>
                <a:latin typeface="Arial"/>
                <a:ea typeface="Arial"/>
                <a:cs typeface="Arial"/>
              </a:rPr>
              <a:t>The project gives us a useful starting point—and a reminder to check the data carefully.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06ECC8-2C4E-4905-9B37-BBC222E38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81250"/>
            <a:ext cx="25717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E9F4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816D08-06C5-4F89-83EF-B0A649D2D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670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D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EB5317-A280-4BC8-BC70-0957D9D95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6098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Learn first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DE0097-709F-4E6A-8AE6-C57456A5D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219450"/>
            <a:ext cx="20764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72B4D"/>
                </a:solidFill>
                <a:latin typeface="Arial"/>
                <a:ea typeface="Arial"/>
                <a:cs typeface="Arial"/>
              </a:rPr>
              <a:t>Use many unlabeled plant photos to learn visual patterns.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A99979-64EA-467A-AF88-5127264C1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381250"/>
            <a:ext cx="25717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1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E4D071-7636-42CD-A33C-4E12E4846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6670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460913-96EB-4ED3-B573-8CB79D966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6098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Adapt gently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6D6915-30AB-471F-9FBA-E4C3C479C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219450"/>
            <a:ext cx="20764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72B4D"/>
                </a:solidFill>
                <a:latin typeface="Arial"/>
                <a:ea typeface="Arial"/>
                <a:cs typeface="Arial"/>
              </a:rPr>
              <a:t>Warm up the new task, then update the model carefully.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537168-901A-4115-A472-135DCA401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381250"/>
            <a:ext cx="25717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BEA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57A0C7-0526-4554-8360-4FF9BD349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6670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4C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D4A7C2-31D3-41C6-94C5-4088876DE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6098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Check labels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4296FD-5C82-43CA-A95A-9E0976D39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219450"/>
            <a:ext cx="20764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72B4D"/>
                </a:solidFill>
                <a:latin typeface="Arial"/>
                <a:ea typeface="Arial"/>
                <a:cs typeface="Arial"/>
              </a:rPr>
              <a:t>A confusing label system can make a good model look bad.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179799-9086-458B-BABD-8F8EFFA78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067300"/>
            <a:ext cx="91440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30836D-346B-44D3-B8CC-4B442AC1E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2578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Big idea: better examples + careful training = better plant recognition.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E474A6-8EFA-4F53-ACF6-6C8E356A6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E7D5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E7D5B"/>
                </a:solidFill>
                <a:latin typeface="Arial"/>
                <a:ea typeface="Arial"/>
                <a:cs typeface="Arial"/>
              </a:rPr>
              <a:t>Questions?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4127F50-9BAC-44B4-956B-6AF9DF6DD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A65E8E-EB49-4176-90BE-4B942A0B5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81775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2606D"/>
                </a:solidFill>
                <a:latin typeface="Arial"/>
                <a:ea typeface="Arial"/>
                <a:cs typeface="Arial"/>
              </a:rPr>
              <a:t>AGRI-DINO  /  PROJECT PRESENTATION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5920FDC-FC61-4DFF-B8EE-CFAFF17CE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2606D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69758169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2026-07-27T01:47:23.3210000Z</dcterms:created>
  <dcterms:modified xsi:type="dcterms:W3CDTF">2026-07-27T01:47:23.3210000Z</dcterms:modified>
</coreProperties>
</file>